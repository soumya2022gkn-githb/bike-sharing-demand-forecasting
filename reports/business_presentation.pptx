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Bike Sharing Demand Forecasting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Client-Ready Business Presentation</a:t>
            </a:r>
          </a:p>
          <a:p>
            <a:r>
              <a:t>Bike_Sharing_Demand_Forecasting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Business Problem</a:t>
            </a:r>
          </a:p>
          <a:p>
            <a:pPr>
              <a:defRPr sz="1800"/>
            </a:pPr>
            <a:r>
              <a:t>Dataset &amp; Exploratory Analysis</a:t>
            </a:r>
          </a:p>
          <a:p>
            <a:pPr>
              <a:defRPr sz="1800"/>
            </a:pPr>
            <a:r>
              <a:t>Key Demand Insights</a:t>
            </a:r>
          </a:p>
          <a:p>
            <a:pPr>
              <a:defRPr sz="1800"/>
            </a:pPr>
            <a:r>
              <a:t>Forecasting Model</a:t>
            </a:r>
          </a:p>
          <a:p>
            <a:pPr>
              <a:defRPr sz="1800"/>
            </a:pPr>
            <a:r>
              <a:t>Model Performance</a:t>
            </a:r>
          </a:p>
          <a:p>
            <a:pPr>
              <a:defRPr sz="1800"/>
            </a:pPr>
            <a:r>
              <a:t>Operational Recommendations</a:t>
            </a:r>
          </a:p>
          <a:p>
            <a:pPr>
              <a:defRPr sz="1800"/>
            </a:pPr>
            <a:r>
              <a:t>Go-Live Readiness</a:t>
            </a:r>
          </a:p>
          <a:p>
            <a:pPr>
              <a:defRPr sz="1800"/>
            </a:pPr>
            <a:r>
              <a:t>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Bike rental demand fluctuates throughout the day and year.</a:t>
            </a:r>
          </a:p>
          <a:p>
            <a:pPr>
              <a:defRPr sz="1800"/>
            </a:pPr>
            <a:r>
              <a:t>Poor forecasting can cause bicycle shortages or over-allocation.</a:t>
            </a:r>
          </a:p>
          <a:p>
            <a:pPr>
              <a:defRPr sz="1800"/>
            </a:pPr>
            <a:r>
              <a:t>Goal: Predict hourly bike demand accurately.</a:t>
            </a:r>
          </a:p>
          <a:p>
            <a:pPr>
              <a:defRPr sz="1800"/>
            </a:pPr>
            <a:r>
              <a:t>Objective: Improve operational planning and bicycle logistics.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Dataset Source: UCI Bike Sharing Dataset</a:t>
            </a:r>
          </a:p>
          <a:p>
            <a:pPr>
              <a:defRPr sz="1800"/>
            </a:pPr>
            <a:r>
              <a:t>Historical hourly rental records</a:t>
            </a:r>
          </a:p>
          <a:p>
            <a:pPr>
              <a:defRPr sz="1800"/>
            </a:pPr>
            <a:r>
              <a:t>Features include weather, temperature, season, holidays, and time</a:t>
            </a:r>
          </a:p>
          <a:p>
            <a:pPr>
              <a:defRPr sz="1800"/>
            </a:pPr>
            <a:r>
              <a:t>Target variable: cnt (hourly bike rental demand)</a:t>
            </a:r>
          </a:p>
          <a:p>
            <a:pPr>
              <a:defRPr sz="1800"/>
            </a:pPr>
            <a:r>
              <a:t>Data supports weather-driven and seasonal forecasting.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Demand peaks during commuting hours.</a:t>
            </a:r>
          </a:p>
          <a:p>
            <a:pPr>
              <a:defRPr sz="1800"/>
            </a:pPr>
            <a:r>
              <a:t>Summer and Fall show highest bike usage.</a:t>
            </a:r>
          </a:p>
          <a:p>
            <a:pPr>
              <a:defRPr sz="1800"/>
            </a:pPr>
            <a:r>
              <a:t>Bad weather significantly reduces demand.</a:t>
            </a:r>
          </a:p>
          <a:p>
            <a:pPr>
              <a:defRPr sz="1800"/>
            </a:pPr>
            <a:r>
              <a:t>Working days have stronger rental activity.</a:t>
            </a:r>
          </a:p>
          <a:p>
            <a:pPr>
              <a:defRPr sz="1800"/>
            </a:pPr>
            <a:r>
              <a:t>Temperature positively correlates with bike rentals.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Models evaluated: Linear Regression, Random Forest, XGBoost</a:t>
            </a:r>
          </a:p>
          <a:p>
            <a:pPr>
              <a:defRPr sz="1800"/>
            </a:pPr>
            <a:r>
              <a:t>XGBoost selected as final production model</a:t>
            </a:r>
          </a:p>
          <a:p>
            <a:pPr>
              <a:defRPr sz="1800"/>
            </a:pPr>
            <a:r>
              <a:t>Handles nonlinear demand patterns effectively</a:t>
            </a:r>
          </a:p>
          <a:p>
            <a:pPr>
              <a:defRPr sz="1800"/>
            </a:pPr>
            <a:r>
              <a:t>Strong performance on weather and seasonal changes</a:t>
            </a:r>
          </a:p>
          <a:p>
            <a:pPr>
              <a:defRPr sz="1800"/>
            </a:pPr>
            <a:r>
              <a:t>Suitable for operational forecasting environments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XGBoost achieved best forecasting accuracy</a:t>
            </a:r>
          </a:p>
          <a:p>
            <a:pPr>
              <a:defRPr sz="1800"/>
            </a:pPr>
            <a:r>
              <a:t>Mean Absolute Error (MAE): ~21</a:t>
            </a:r>
          </a:p>
          <a:p>
            <a:pPr>
              <a:defRPr sz="1800"/>
            </a:pPr>
            <a:r>
              <a:t>Root Mean Squared Error (RMSE): ~31</a:t>
            </a:r>
          </a:p>
          <a:p>
            <a:pPr>
              <a:defRPr sz="1800"/>
            </a:pPr>
            <a:r>
              <a:t>R² Score: ~0.95</a:t>
            </a:r>
          </a:p>
          <a:p>
            <a:pPr>
              <a:defRPr sz="1800"/>
            </a:pPr>
            <a:r>
              <a:t>High reliability for short-term operational planning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Refresh forecasts every 1–3 hours</a:t>
            </a:r>
          </a:p>
          <a:p>
            <a:pPr>
              <a:defRPr sz="1800"/>
            </a:pPr>
            <a:r>
              <a:t>Monitor weather-driven demand changes</a:t>
            </a:r>
          </a:p>
          <a:p>
            <a:pPr>
              <a:defRPr sz="1800"/>
            </a:pPr>
            <a:r>
              <a:t>Retrain models seasonally</a:t>
            </a:r>
          </a:p>
          <a:p>
            <a:pPr>
              <a:defRPr sz="1800"/>
            </a:pPr>
            <a:r>
              <a:t>Use 24–72 hour forecasting horizons</a:t>
            </a:r>
          </a:p>
          <a:p>
            <a:pPr>
              <a:defRPr sz="1800"/>
            </a:pPr>
            <a:r>
              <a:t>Automate model monitoring and retraining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Go-Live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Modular production-ready architecture</a:t>
            </a:r>
          </a:p>
          <a:p>
            <a:pPr>
              <a:defRPr sz="1800"/>
            </a:pPr>
            <a:r>
              <a:t>Automated data processing pipelines</a:t>
            </a:r>
          </a:p>
          <a:p>
            <a:pPr>
              <a:defRPr sz="1800"/>
            </a:pPr>
            <a:r>
              <a:t>Model persistence and logging implemented</a:t>
            </a:r>
          </a:p>
          <a:p>
            <a:pPr>
              <a:defRPr sz="1800"/>
            </a:pPr>
            <a:r>
              <a:t>Forecasting system designed for scalability</a:t>
            </a:r>
          </a:p>
          <a:p>
            <a:pPr>
              <a:defRPr sz="1800"/>
            </a:pPr>
            <a:r>
              <a:t>Suitable for deployment in daily prediction services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Forecasting solution improves bicycle logistics planning</a:t>
            </a:r>
          </a:p>
          <a:p>
            <a:pPr>
              <a:defRPr sz="1800"/>
            </a:pPr>
            <a:r>
              <a:t>XGBoost provides strong operational forecasting performance</a:t>
            </a:r>
          </a:p>
          <a:p>
            <a:pPr>
              <a:defRPr sz="1800"/>
            </a:pPr>
            <a:r>
              <a:t>Demand patterns driven by weather and commuting behavior</a:t>
            </a:r>
          </a:p>
          <a:p>
            <a:pPr>
              <a:defRPr sz="1800"/>
            </a:pPr>
            <a:r>
              <a:t>Short-term forecasts provide highest planning reliability</a:t>
            </a:r>
          </a:p>
          <a:p>
            <a:pPr>
              <a:defRPr sz="1800"/>
            </a:pPr>
            <a:r>
              <a:t>Solution is ready for operational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